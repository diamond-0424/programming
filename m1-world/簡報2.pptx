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a6c6c482242e3" /><Relationship Type="http://schemas.openxmlformats.org/officeDocument/2006/relationships/extended-properties" Target="/docProps/app.xml" Id="Rc8159a345987451e" /><Relationship Type="http://schemas.openxmlformats.org/officeDocument/2006/relationships/officeDocument" Target="/ppt/presentation.xml" Id="R4f85606b6b4544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978018eb064abb"/>
  </p:sldMasterIdLst>
  <p:notesMasterIdLst>
    <p:notesMasterId xmlns:r="http://schemas.openxmlformats.org/officeDocument/2006/relationships" r:id="Ra60b43fc59a24585"/>
  </p:notesMasterIdLst>
  <p:sldIdLst>
    <p:sldId xmlns:r="http://schemas.openxmlformats.org/officeDocument/2006/relationships" id="256" r:id="R2a8fa1536c11445c"/>
    <p:sldId xmlns:r="http://schemas.openxmlformats.org/officeDocument/2006/relationships" id="257" r:id="Rb9ae460a09694fb5"/>
    <p:sldId xmlns:r="http://schemas.openxmlformats.org/officeDocument/2006/relationships" id="258" r:id="Rce39272e3a534412"/>
    <p:sldId xmlns:r="http://schemas.openxmlformats.org/officeDocument/2006/relationships" id="259" r:id="Ra974e7d4766b4c7a"/>
    <p:sldId xmlns:r="http://schemas.openxmlformats.org/officeDocument/2006/relationships" id="260" r:id="Rd227cc4678c74ed8"/>
    <p:sldId xmlns:r="http://schemas.openxmlformats.org/officeDocument/2006/relationships" id="261" r:id="R41048c48362848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80283d53ce420b" /><Relationship Type="http://schemas.openxmlformats.org/officeDocument/2006/relationships/slideMaster" Target="/ppt/slideMasters/slideMaster1.xml" Id="R3f978018eb064abb" /><Relationship Type="http://schemas.openxmlformats.org/officeDocument/2006/relationships/notesMaster" Target="/ppt/notesMasters/notesMaster1.xml" Id="Ra60b43fc59a24585" /><Relationship Type="http://schemas.openxmlformats.org/officeDocument/2006/relationships/presProps" Target="/ppt/presProps.xml" Id="R03f7bdcbadda41be" /><Relationship Type="http://schemas.openxmlformats.org/officeDocument/2006/relationships/tableStyles" Target="/ppt/tableStyles.xml" Id="R4599c33c1cb14d5d" /><Relationship Type="http://schemas.openxmlformats.org/officeDocument/2006/relationships/slide" Target="/ppt/slides/slide1.xml" Id="R2a8fa1536c11445c" /><Relationship Type="http://schemas.openxmlformats.org/officeDocument/2006/relationships/slide" Target="/ppt/slides/slide2.xml" Id="Rb9ae460a09694fb5" /><Relationship Type="http://schemas.openxmlformats.org/officeDocument/2006/relationships/slide" Target="/ppt/slides/slide3.xml" Id="Rce39272e3a534412" /><Relationship Type="http://schemas.openxmlformats.org/officeDocument/2006/relationships/slide" Target="/ppt/slides/slide4.xml" Id="Ra974e7d4766b4c7a" /><Relationship Type="http://schemas.openxmlformats.org/officeDocument/2006/relationships/slide" Target="/ppt/slides/slide5.xml" Id="Rd227cc4678c74ed8" /><Relationship Type="http://schemas.openxmlformats.org/officeDocument/2006/relationships/slide" Target="/ppt/slides/slide6.xml" Id="R41048c483628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57fbac77b847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4d737a7eb94c25" /><Relationship Type="http://schemas.openxmlformats.org/officeDocument/2006/relationships/notesMaster" Target="/ppt/notesMasters/notesMaster1.xml" Id="R36a9d4dc68ba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124077d854a04" /><Relationship Type="http://schemas.openxmlformats.org/officeDocument/2006/relationships/notesMaster" Target="/ppt/notesMasters/notesMaster1.xml" Id="Rfecf3c0f3fa742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d62d17b0684f78" /><Relationship Type="http://schemas.openxmlformats.org/officeDocument/2006/relationships/notesMaster" Target="/ppt/notesMasters/notesMaster1.xml" Id="Rc9892309d33e4f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f8d63297e64b4e" /><Relationship Type="http://schemas.openxmlformats.org/officeDocument/2006/relationships/notesMaster" Target="/ppt/notesMasters/notesMaster1.xml" Id="Re741e2abd42249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ddfec71ea34248" /><Relationship Type="http://schemas.openxmlformats.org/officeDocument/2006/relationships/notesMaster" Target="/ppt/notesMasters/notesMaster1.xml" Id="R3cdf2542ec9643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d234e03779424c" /><Relationship Type="http://schemas.openxmlformats.org/officeDocument/2006/relationships/notesMaster" Target="/ppt/notesMasters/notesMaster1.xml" Id="R96b372fdbfb741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來源：使用者「世界觀發展」對話中提供的創作內容，以及移除 Animation 後的整理版本。所有宇宙法則與生態描述均屬虛構世界設定。年代與繁殖機制為暫定設定。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來源：使用者「世界觀發展」對話中提供的創作內容，以及移除 Animation 後的整理版本。所有宇宙法則與生態描述均屬虛構世界設定。年代與繁殖機制為暫定設定。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來源：使用者「世界觀發展」對話中提供的創作內容，以及移除 Animation 後的整理版本。所有宇宙法則與生態描述均屬虛構世界設定。年代與繁殖機制為暫定設定。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來源：使用者「世界觀發展」對話中提供的創作內容，以及移除 Animation 後的整理版本。所有宇宙法則與生態描述均屬虛構世界設定。年代與繁殖機制為暫定設定。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來源：使用者「世界觀發展」對話中提供的創作內容，以及移除 Animation 後的整理版本。所有宇宙法則與生態描述均屬虛構世界設定。年代與繁殖機制為暫定設定。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來源：使用者「世界觀發展」對話中提供的創作內容，以及移除 Animation 後的整理版本。所有宇宙法則與生態描述均屬虛構世界設定。年代與繁殖機制為暫定設定。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9ca1b3a8d4d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901b3e91cb4518" /><Relationship Type="http://schemas.openxmlformats.org/officeDocument/2006/relationships/slideLayout" Target="/ppt/slideLayouts/slideLayout1.xml" Id="Rb1cc5361eb13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cc5361eb13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2b01eefea48be" /><Relationship Type="http://schemas.openxmlformats.org/officeDocument/2006/relationships/notesSlide" Target="/ppt/notesSlides/notesSlide1.xml" Id="R3761fe4e6eb642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37b6804744706" /><Relationship Type="http://schemas.openxmlformats.org/officeDocument/2006/relationships/notesSlide" Target="/ppt/notesSlides/notesSlide2.xml" Id="R39cad5d7311646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73b269d8f48ba" /><Relationship Type="http://schemas.openxmlformats.org/officeDocument/2006/relationships/notesSlide" Target="/ppt/notesSlides/notesSlide3.xml" Id="R6d12c6cc09ad45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f7484dc5c4a98" /><Relationship Type="http://schemas.openxmlformats.org/officeDocument/2006/relationships/notesSlide" Target="/ppt/notesSlides/notesSlide4.xml" Id="R653d805a75d64d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3980faaab4eab" /><Relationship Type="http://schemas.openxmlformats.org/officeDocument/2006/relationships/notesSlide" Target="/ppt/notesSlides/notesSlide5.xml" Id="Ra2e72cae4d1a49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32eb4d0af4423" /><Relationship Type="http://schemas.openxmlformats.org/officeDocument/2006/relationships/notesSlide" Target="/ppt/notesSlides/notesSlide6.xml" Id="Rb64dbadf2fd847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343AE-FADD-4ED5-9ACA-51C33D5A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rPr>
              <a:t>數學宇宙的核心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F4056-454B-497D-BD23-D377AFD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宇宙重啟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87184-9307-4EAE-846F-E8F2573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rPr>
              <a:t>起源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2178D-F63A-4602-AE65-FBFA6F93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高維生命重啟宇宙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Origin 是世界的原點</a:t>
            </a:r>
          </a:p>
        </p:txBody>
      </p:sp>
      <p:cxnSp>
        <p:nvCxnSpPr>
          <p:cNvPr id="23" name=""/>
          <p:cNvCxnSpPr>
            <a:stCxn xmlns:a="http://schemas.openxmlformats.org/drawingml/2006/main" id="2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 flipV="1">
            <a:off x="3962400" y="1695450"/>
            <a:ext cx="742950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70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01CF0-F1F2-4808-8D04-150C732F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rPr>
              <a:t>構成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B25C6-8C2F-4F1B-BC49-F7D856CC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點、線、面、體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構成不同維度的存在</a:t>
            </a:r>
          </a:p>
        </p:txBody>
      </p:sp>
      <p:cxnSp>
        <p:nvCxnSpPr>
          <p:cNvPr id="26" name=""/>
          <p:cNvCxnSpPr>
            <a:stCxn xmlns:a="http://schemas.openxmlformats.org/drawingml/2006/main" id="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3962400" y="3381375"/>
            <a:ext cx="7429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582E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F0551-4648-40CA-B277-9DBC2E30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rPr>
              <a:t>本質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17787-83BF-4E53-A6EE-53427EEB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資訊與數學就是世界底層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不必先建立原子與化學系統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467600" y="1695450"/>
            <a:ext cx="657225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518C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C7EA4-475A-40A1-A957-2FC0183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rPr>
              <a:t>物理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BF148-61A7-437F-9616-A8F5E081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保留位置、距離與碰撞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用幾何關係解釋運動</a:t>
            </a:r>
          </a:p>
        </p:txBody>
      </p:sp>
      <p:cxnSp>
        <p:nvCxnSpPr>
          <p:cNvPr id="32" name=""/>
          <p:cNvCxnSpPr>
            <a:stCxn xmlns:a="http://schemas.openxmlformats.org/drawingml/2006/main" id="2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3381375"/>
            <a:ext cx="65722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D9B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10144-02DE-438B-9C8F-8A88509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rPr>
              <a:t>生命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29ACB-2EE1-42EF-8619-F72429A0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能維持自身結構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並發展幾何操作能力</a:t>
            </a:r>
          </a:p>
        </p:txBody>
      </p:sp>
      <p:cxnSp>
        <p:nvCxnSpPr>
          <p:cNvPr id="35" name=""/>
          <p:cNvCxnSpPr>
            <a:stCxn xmlns:a="http://schemas.openxmlformats.org/drawingml/2006/main" id="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86475" y="3733800"/>
            <a:ext cx="342900" cy="1266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A4563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2E814-BE50-4A14-834F-F2791E73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rPr>
              <a:t>創作設定：世界從 Origin 向外生成，形成持續擴展的數學網格。</a:t>
            </a:r>
          </a:p>
        </p:txBody>
      </p:sp>
    </p:spTree>
    <p:extLst>
      <p:ext uri="{BB962C8B-B14F-4D97-AF65-F5344CB8AC3E}">
        <p14:creationId xmlns:p14="http://schemas.microsoft.com/office/powerpoint/2010/main" val="197701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D5B4F-7E65-4236-803D-1D95A8AA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rPr>
              <a:t>維度與生命的界線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B7D1E-6D25-4488-9CB9-96961BD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維度階級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14884-B690-4610-92F0-DEDA2C17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rPr>
              <a:t>0 維：點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35A78-A1A6-4B33-AF08-6FA9F404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記錄位置與狀態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是最基本的資訊單位</a:t>
            </a:r>
          </a:p>
        </p:txBody>
      </p:sp>
      <p:cxnSp>
        <p:nvCxnSpPr>
          <p:cNvPr id="23" name=""/>
          <p:cNvCxnSpPr>
            <a:stCxn xmlns:a="http://schemas.openxmlformats.org/drawingml/2006/main" id="2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 flipV="1">
            <a:off x="3962400" y="1695450"/>
            <a:ext cx="742950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70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96952-89DA-47F0-8D3C-746E74F0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rPr>
              <a:t>1 維：線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C88EA-8C43-495A-9640-BBA2DEA5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以連結形成存在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只能感知前後方向</a:t>
            </a:r>
          </a:p>
        </p:txBody>
      </p:sp>
      <p:cxnSp>
        <p:nvCxnSpPr>
          <p:cNvPr id="26" name=""/>
          <p:cNvCxnSpPr>
            <a:stCxn xmlns:a="http://schemas.openxmlformats.org/drawingml/2006/main" id="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3962400" y="3381375"/>
            <a:ext cx="7429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582E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1A46B-7759-4A03-A3BA-18BA0B62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rPr>
              <a:t>2 維：面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09B95-ABC3-460D-9D60-A8C4DF3D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由曲線、多邊形構成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邊界區分內部與外部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467600" y="1695450"/>
            <a:ext cx="657225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518C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EDE67-AF08-4315-8F45-5AF790B8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rPr>
              <a:t>3 維：體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3E525-564A-4036-A21A-7AF0B8C9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具有體積與額外方向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可以跨越二維封閉邊界</a:t>
            </a:r>
          </a:p>
        </p:txBody>
      </p:sp>
      <p:cxnSp>
        <p:nvCxnSpPr>
          <p:cNvPr id="32" name=""/>
          <p:cNvCxnSpPr>
            <a:stCxn xmlns:a="http://schemas.openxmlformats.org/drawingml/2006/main" id="2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3381375"/>
            <a:ext cx="65722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D9B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F6B47-E148-4557-846B-AB94B3FA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rPr>
              <a:t>4 維以上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A2A3B-27D9-47F5-BDE6-F3849BA5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重啟宇宙的高維生命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低維只能接觸其局部截面</a:t>
            </a:r>
          </a:p>
        </p:txBody>
      </p:sp>
      <p:cxnSp>
        <p:nvCxnSpPr>
          <p:cNvPr id="35" name=""/>
          <p:cNvCxnSpPr>
            <a:stCxn xmlns:a="http://schemas.openxmlformats.org/drawingml/2006/main" id="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86475" y="3733800"/>
            <a:ext cx="342900" cy="1266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A4563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27A66-DBC0-48D0-AF66-06A4757F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rPr>
              <a:t>核心規則：低維生命無法主動升維，高維生命可以穿越低維世界。</a:t>
            </a:r>
          </a:p>
        </p:txBody>
      </p:sp>
    </p:spTree>
    <p:extLst>
      <p:ext uri="{BB962C8B-B14F-4D97-AF65-F5344CB8AC3E}">
        <p14:creationId xmlns:p14="http://schemas.microsoft.com/office/powerpoint/2010/main" val="1675307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37E8E-1299-4E38-9FAE-17BF2A58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rPr>
              <a:t>生物演化的幾何能力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4200E-BF27-45A5-B919-D21446D3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結構演化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63AB7-D3D6-48D2-B4AD-E092E673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rPr>
              <a:t>移動與旋轉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6BE04-2D34-4228-8FD7-34CAD4B1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Translation / Rotation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改變位置與方向</a:t>
            </a:r>
          </a:p>
        </p:txBody>
      </p:sp>
      <p:cxnSp>
        <p:nvCxnSpPr>
          <p:cNvPr id="23" name=""/>
          <p:cNvCxnSpPr>
            <a:stCxn xmlns:a="http://schemas.openxmlformats.org/drawingml/2006/main" id="2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 flipV="1">
            <a:off x="3962400" y="1695450"/>
            <a:ext cx="742950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70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F6876-FFC7-40A9-BD5B-947F188B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rPr>
              <a:t>縮放與鏡射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FBFC2-604D-45BF-A8F8-3D6AADDB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Scale / Reflection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調整尺寸或身體配置</a:t>
            </a:r>
          </a:p>
        </p:txBody>
      </p:sp>
      <p:cxnSp>
        <p:nvCxnSpPr>
          <p:cNvPr id="26" name=""/>
          <p:cNvCxnSpPr>
            <a:stCxn xmlns:a="http://schemas.openxmlformats.org/drawingml/2006/main" id="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3962400" y="3381375"/>
            <a:ext cx="7429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582E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D154C-8E9A-4961-9363-DEA3097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rPr>
              <a:t>連接與解離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B7063-46B2-406C-9DC8-103346E3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Connect / Disconnect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組合身體或分散避敵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467600" y="1695450"/>
            <a:ext cx="657225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518C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AE37E-9DE6-47C2-8ECA-2E021E4E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rPr>
              <a:t>分裂與融合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D7456-5DDE-46D2-BCE7-2B217B0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Split / Merge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分開或合併既有結構</a:t>
            </a:r>
          </a:p>
        </p:txBody>
      </p:sp>
      <p:cxnSp>
        <p:nvCxnSpPr>
          <p:cNvPr id="32" name=""/>
          <p:cNvCxnSpPr>
            <a:stCxn xmlns:a="http://schemas.openxmlformats.org/drawingml/2006/main" id="2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3381375"/>
            <a:ext cx="65722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D9B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43591-F601-4704-97E4-B71166A8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rPr>
              <a:t>細分與拓樸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759B4-203F-4CBC-AD3D-490C9F59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Subdivision / Topology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增加節點，改變連接方式</a:t>
            </a:r>
          </a:p>
        </p:txBody>
      </p:sp>
      <p:cxnSp>
        <p:nvCxnSpPr>
          <p:cNvPr id="35" name=""/>
          <p:cNvCxnSpPr>
            <a:stCxn xmlns:a="http://schemas.openxmlformats.org/drawingml/2006/main" id="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86475" y="3733800"/>
            <a:ext cx="342900" cy="1266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A4563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6785B-C6FD-4DDA-9F76-0D932072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rPr>
              <a:t>生存壓力決定能力的用途，幾何操作仍受自身維度限制。</a:t>
            </a:r>
          </a:p>
        </p:txBody>
      </p:sp>
    </p:spTree>
    <p:extLst>
      <p:ext uri="{BB962C8B-B14F-4D97-AF65-F5344CB8AC3E}">
        <p14:creationId xmlns:p14="http://schemas.microsoft.com/office/powerpoint/2010/main" val="169149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6F6D5-25F6-4BA2-AF33-B2413B13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rPr>
              <a:t>截游體 Section Drifter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560C0-1C11-41B0-8040-AD217869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截游體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4CABE-30B4-403A-A392-E6FF9DD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rPr>
              <a:t>真實身體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04790-EB82-4195-9070-66D18E84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完整的三維生命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生活於三維空間</a:t>
            </a:r>
          </a:p>
        </p:txBody>
      </p:sp>
      <p:cxnSp>
        <p:nvCxnSpPr>
          <p:cNvPr id="23" name=""/>
          <p:cNvCxnSpPr>
            <a:stCxn xmlns:a="http://schemas.openxmlformats.org/drawingml/2006/main" id="2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 flipV="1">
            <a:off x="3962400" y="1695450"/>
            <a:ext cx="742950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70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CD0E6-1BF8-4588-8F94-AA3DC4D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rPr>
              <a:t>覓食位置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6B2B8-A2C9-42E4-B244-DE67FF08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週期性穿越二維生態層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接近點群與線狀生命</a:t>
            </a:r>
          </a:p>
        </p:txBody>
      </p:sp>
      <p:cxnSp>
        <p:nvCxnSpPr>
          <p:cNvPr id="26" name=""/>
          <p:cNvCxnSpPr>
            <a:stCxn xmlns:a="http://schemas.openxmlformats.org/drawingml/2006/main" id="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3962400" y="3381375"/>
            <a:ext cx="7429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582E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D898F-AAD9-4841-A9BA-5776F35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rPr>
              <a:t>低維視角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B3672-5E3E-4B4F-91C0-4E0A056D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只看得到相交的截面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外形會出現、變大與消失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467600" y="1695450"/>
            <a:ext cx="657225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518C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12121-B714-4DCF-8A03-33187A67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rPr>
              <a:t>捕食方式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DFFB0-6CD5-48F8-BF13-9087EAF2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截面擴張並包覆獵物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離開平面時帶走獵物</a:t>
            </a:r>
          </a:p>
        </p:txBody>
      </p:sp>
      <p:cxnSp>
        <p:nvCxnSpPr>
          <p:cNvPr id="32" name=""/>
          <p:cNvCxnSpPr>
            <a:stCxn xmlns:a="http://schemas.openxmlformats.org/drawingml/2006/main" id="2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3381375"/>
            <a:ext cx="65722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D9B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40A82-EA52-4DC2-9391-B3B1D12A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rPr>
              <a:t>辨識特徵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ECD7B-6833-4170-A21D-1661FAE8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複雜身體可呈現多個截面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二維觀察者看不到全貌</a:t>
            </a:r>
          </a:p>
        </p:txBody>
      </p:sp>
      <p:cxnSp>
        <p:nvCxnSpPr>
          <p:cNvPr id="35" name=""/>
          <p:cNvCxnSpPr>
            <a:stCxn xmlns:a="http://schemas.openxmlformats.org/drawingml/2006/main" id="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86475" y="3733800"/>
            <a:ext cx="342900" cy="1266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A4563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D5872-D1D4-41FD-A20E-E838EE2A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rPr>
              <a:t>球體穿越平面時，截面依序呈現點、小圓、大圓、小圓、點，最後消失。</a:t>
            </a:r>
          </a:p>
        </p:txBody>
      </p:sp>
    </p:spTree>
    <p:extLst>
      <p:ext uri="{BB962C8B-B14F-4D97-AF65-F5344CB8AC3E}">
        <p14:creationId xmlns:p14="http://schemas.microsoft.com/office/powerpoint/2010/main" val="1848093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F2235-5692-4EC6-A6CC-E6EFD88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rPr>
              <a:t>二維生態與生存壓力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2EB54-558F-4A3E-90DF-114CCC40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幾何生態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39EBA-B717-4126-B39C-E875BDF4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rPr>
              <a:t>點群生物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30AED-FAE6-424D-9973-EF8847CC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身體由相連的點構成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危險時解離，安全後重組</a:t>
            </a:r>
          </a:p>
        </p:txBody>
      </p:sp>
      <p:cxnSp>
        <p:nvCxnSpPr>
          <p:cNvPr id="23" name=""/>
          <p:cNvCxnSpPr>
            <a:stCxn xmlns:a="http://schemas.openxmlformats.org/drawingml/2006/main" id="2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 flipV="1">
            <a:off x="3962400" y="1695450"/>
            <a:ext cx="742950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70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CA911-A1A2-48DB-81B3-0AD63201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rPr>
              <a:t>封閉多邊形獵食者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0DE68-ADD7-4EC1-8A79-D108270F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延伸邊界包圍獵物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封閉後將獵物納入內部</a:t>
            </a:r>
          </a:p>
        </p:txBody>
      </p:sp>
      <p:cxnSp>
        <p:nvCxnSpPr>
          <p:cNvPr id="26" name=""/>
          <p:cNvCxnSpPr>
            <a:stCxn xmlns:a="http://schemas.openxmlformats.org/drawingml/2006/main" id="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3962400" y="3381375"/>
            <a:ext cx="7429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582E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BDFB8-7FDE-479E-9336-F06AFE7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rPr>
              <a:t>截游體的介入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CB712-D20C-425D-832D-9EBAB2F8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從三維方向進入生態層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打破平面內的封閉防線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467600" y="1695450"/>
            <a:ext cx="657225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518C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10126-F4EE-481C-A29B-D6FE5C64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rPr>
              <a:t>環境威脅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7EA7D-BF6C-4F18-B524-5A8142BE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維度錯位與拓樸斷裂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高維物體突然穿越</a:t>
            </a:r>
          </a:p>
        </p:txBody>
      </p:sp>
      <p:cxnSp>
        <p:nvCxnSpPr>
          <p:cNvPr id="32" name=""/>
          <p:cNvCxnSpPr>
            <a:stCxn xmlns:a="http://schemas.openxmlformats.org/drawingml/2006/main" id="2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3381375"/>
            <a:ext cx="65722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D9B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88D4D-A9AE-4BEF-B90C-04CC6D9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rPr>
              <a:t>生存資源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9EA50-ED48-4C14-AEB6-DD1E520A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吸收其他結構的資訊或能量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維持身體的連接與完整性</a:t>
            </a:r>
          </a:p>
        </p:txBody>
      </p:sp>
      <p:cxnSp>
        <p:nvCxnSpPr>
          <p:cNvPr id="35" name=""/>
          <p:cNvCxnSpPr>
            <a:stCxn xmlns:a="http://schemas.openxmlformats.org/drawingml/2006/main" id="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86475" y="3733800"/>
            <a:ext cx="342900" cy="1266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A4563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95729-E234-4C97-B7AE-8FB1627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rPr>
              <a:t>不同生物的身體構造與防禦方式，都來自所在維度的限制。</a:t>
            </a:r>
          </a:p>
        </p:txBody>
      </p:sp>
    </p:spTree>
    <p:extLst>
      <p:ext uri="{BB962C8B-B14F-4D97-AF65-F5344CB8AC3E}">
        <p14:creationId xmlns:p14="http://schemas.microsoft.com/office/powerpoint/2010/main" val="788404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FA914-6B2E-48BA-A7A8-1D83E2F6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8343E"/>
                </a:solidFill>
                <a:latin typeface="Microsoft JhengHei"/>
                <a:ea typeface="Microsoft JhengHei"/>
                <a:cs typeface="Microsoft JhengHei"/>
              </a:rPr>
              <a:t>課堂設定：年代、環境與生命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E0B7C-453C-40A3-BB97-0D903716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3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世界設定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32422-A631-4444-AB9C-483C2EBC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6B70"/>
                </a:solidFill>
                <a:latin typeface="Microsoft JhengHei"/>
                <a:ea typeface="Microsoft JhengHei"/>
                <a:cs typeface="Microsoft JhengHei"/>
              </a:rPr>
              <a:t>年代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E3C5C-713F-493A-B9C4-CE4DBD66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暫定重啟後約 1,000 萬年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偶爾殘留舊宇宙資訊碎片</a:t>
            </a:r>
          </a:p>
        </p:txBody>
      </p:sp>
      <p:cxnSp>
        <p:nvCxnSpPr>
          <p:cNvPr id="23" name=""/>
          <p:cNvCxnSpPr>
            <a:stCxn xmlns:a="http://schemas.openxmlformats.org/drawingml/2006/main" id="2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 flipV="1">
            <a:off x="3962400" y="1695450"/>
            <a:ext cx="742950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70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22AF4-9F12-418C-8AC9-1B540DF0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A582E"/>
                </a:solidFill>
                <a:latin typeface="Microsoft JhengHei"/>
                <a:ea typeface="Microsoft JhengHei"/>
                <a:cs typeface="Microsoft JhengHei"/>
              </a:rPr>
              <a:t>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60E23-D6A7-4960-A4C4-A96D81F8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網格、節點與幾何平面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不同維度形成各自的生態層</a:t>
            </a:r>
          </a:p>
        </p:txBody>
      </p:sp>
      <p:cxnSp>
        <p:nvCxnSpPr>
          <p:cNvPr id="26" name=""/>
          <p:cNvCxnSpPr>
            <a:stCxn xmlns:a="http://schemas.openxmlformats.org/drawingml/2006/main" id="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3962400" y="3381375"/>
            <a:ext cx="7429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582E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E7EC4-1124-43D9-9534-5F1D410A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1518C"/>
                </a:solidFill>
                <a:latin typeface="Microsoft JhengHei"/>
                <a:ea typeface="Microsoft JhengHei"/>
                <a:cs typeface="Microsoft JhengHei"/>
              </a:rPr>
              <a:t>生存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59473-10FD-441D-BF1C-86F11AEA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621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截游體吸收低維生命結構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需避免自身拓樸遭到切斷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467600" y="1695450"/>
            <a:ext cx="657225" cy="1685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518C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75F5E-D808-41F8-AB0C-9FB81113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86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15D9B"/>
                </a:solidFill>
                <a:latin typeface="Microsoft JhengHei"/>
                <a:ea typeface="Microsoft JhengHei"/>
                <a:cs typeface="Microsoft JhengHei"/>
              </a:rPr>
              <a:t>棲息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010B4-5791-42FF-9CE3-1438FFC0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719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三維空間中的「截面帶」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隨富含生命的二維層移動</a:t>
            </a:r>
          </a:p>
        </p:txBody>
      </p:sp>
      <p:cxnSp>
        <p:nvCxnSpPr>
          <p:cNvPr id="32" name=""/>
          <p:cNvCxnSpPr>
            <a:stCxn xmlns:a="http://schemas.openxmlformats.org/drawingml/2006/main" id="2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3381375"/>
            <a:ext cx="65722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D9B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6C58C-695A-43EB-A584-198A81B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4563"/>
                </a:solidFill>
                <a:latin typeface="Microsoft JhengHei"/>
                <a:ea typeface="Microsoft JhengHei"/>
                <a:cs typeface="Microsoft JhengHei"/>
              </a:rPr>
              <a:t>繁殖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1DF61-5D73-4AB8-94E8-0EBB3C27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暫定以幾何出芽繁殖</a:t>
            </a:r>
          </a:p>
          <a:p xmlns:a="http://schemas.openxmlformats.org/drawingml/2006/main">
            <a:pPr>
              <a:def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43842"/>
                </a:solidFill>
                <a:latin typeface="Microsoft JhengHei"/>
                <a:ea typeface="Microsoft JhengHei"/>
                <a:cs typeface="Microsoft JhengHei"/>
              </a:rPr>
              <a:t>幼體從誕生起就是三維生命</a:t>
            </a:r>
          </a:p>
        </p:txBody>
      </p:sp>
      <p:cxnSp>
        <p:nvCxnSpPr>
          <p:cNvPr id="35" name=""/>
          <p:cNvCxnSpPr>
            <a:stCxn xmlns:a="http://schemas.openxmlformats.org/drawingml/2006/main" id="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86475" y="3733800"/>
            <a:ext cx="342900" cy="1266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A4563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97E2B-DEDC-4A71-8322-4ED5A9E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3646A"/>
                </a:solidFill>
                <a:latin typeface="Microsoft JhengHei"/>
                <a:ea typeface="Microsoft JhengHei"/>
                <a:cs typeface="Microsoft JhengHei"/>
              </a:rPr>
              <a:t>待細化：物理現象的保留程度、資訊與能量如何轉換、維度對齊的週期。</a:t>
            </a:r>
          </a:p>
        </p:txBody>
      </p:sp>
    </p:spTree>
    <p:extLst>
      <p:ext uri="{BB962C8B-B14F-4D97-AF65-F5344CB8AC3E}">
        <p14:creationId xmlns:p14="http://schemas.microsoft.com/office/powerpoint/2010/main" val="378198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2026-10-01T09:46:09.7760000Z</dcterms:created>
  <dcterms:modified xsi:type="dcterms:W3CDTF">2026-10-01T09:46:09.7760000Z</dcterms:modified>
</coreProperties>
</file>